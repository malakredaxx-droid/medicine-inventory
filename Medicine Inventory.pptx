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530" r:id="rId5"/>
    <p:sldId id="531" r:id="rId6"/>
    <p:sldId id="547" r:id="rId7"/>
    <p:sldId id="548" r:id="rId8"/>
    <p:sldId id="549" r:id="rId9"/>
    <p:sldId id="550" r:id="rId10"/>
    <p:sldId id="551" r:id="rId11"/>
    <p:sldId id="552" r:id="rId12"/>
    <p:sldId id="553" r:id="rId13"/>
    <p:sldId id="554" r:id="rId14"/>
    <p:sldId id="555" r:id="rId15"/>
    <p:sldId id="556" r:id="rId16"/>
    <p:sldId id="557" r:id="rId17"/>
    <p:sldId id="558" r:id="rId18"/>
    <p:sldId id="53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5380" y="444358"/>
            <a:ext cx="9921240" cy="1481328"/>
          </a:xfrm>
        </p:spPr>
        <p:txBody>
          <a:bodyPr/>
          <a:lstStyle/>
          <a:p>
            <a:r>
              <a:rPr lang="en-US" dirty="0"/>
              <a:t>Medicine Inventory</a:t>
            </a: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0129" y="2081330"/>
            <a:ext cx="5943600" cy="3385224"/>
          </a:xfrm>
        </p:spPr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Prepared by:</a:t>
            </a:r>
          </a:p>
          <a:p>
            <a:r>
              <a:rPr lang="en-US" b="1" dirty="0">
                <a:latin typeface="Aptos" panose="020B0004020202020204" pitchFamily="34" charset="0"/>
              </a:rPr>
              <a:t>Rawda Haitham 221001727</a:t>
            </a:r>
          </a:p>
          <a:p>
            <a:r>
              <a:rPr lang="en-US" b="1" dirty="0" err="1">
                <a:latin typeface="Aptos" panose="020B0004020202020204" pitchFamily="34" charset="0"/>
              </a:rPr>
              <a:t>Yossr</a:t>
            </a:r>
            <a:r>
              <a:rPr lang="en-US" b="1" dirty="0">
                <a:latin typeface="Aptos" panose="020B0004020202020204" pitchFamily="34" charset="0"/>
              </a:rPr>
              <a:t> Ashraf 221001861</a:t>
            </a:r>
          </a:p>
          <a:p>
            <a:r>
              <a:rPr lang="en-US" b="1" dirty="0">
                <a:latin typeface="Aptos" panose="020B0004020202020204" pitchFamily="34" charset="0"/>
              </a:rPr>
              <a:t>Malak Reda 231001933</a:t>
            </a:r>
          </a:p>
          <a:p>
            <a:r>
              <a:rPr lang="en-US" b="1" dirty="0">
                <a:latin typeface="Aptos" panose="020B0004020202020204" pitchFamily="34" charset="0"/>
              </a:rPr>
              <a:t>Yasmine Gomaa 241002181</a:t>
            </a:r>
          </a:p>
          <a:p>
            <a:endParaRPr lang="en-US" dirty="0"/>
          </a:p>
          <a:p>
            <a:r>
              <a:rPr lang="en-US" b="1" dirty="0">
                <a:latin typeface="Aptos" panose="020B0004020202020204" pitchFamily="34" charset="0"/>
              </a:rPr>
              <a:t>Supervised by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</a:rPr>
              <a:t>Mohamed Mahmoud </a:t>
            </a:r>
            <a:r>
              <a:rPr lang="en-US" b="1" dirty="0" err="1">
                <a:latin typeface="Aptos" panose="020B0004020202020204" pitchFamily="34" charset="0"/>
              </a:rPr>
              <a:t>ElSayeh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8" y="255643"/>
            <a:ext cx="8878824" cy="1069848"/>
          </a:xfrm>
        </p:spPr>
        <p:txBody>
          <a:bodyPr>
            <a:normAutofit/>
          </a:bodyPr>
          <a:lstStyle/>
          <a:p>
            <a:r>
              <a:rPr lang="en-US" dirty="0">
                <a:ln w="28575">
                  <a:noFill/>
                  <a:prstDash val="solid"/>
                </a:ln>
                <a:latin typeface="Tw Cen MT" panose="020B0602020104020603" pitchFamily="34" charset="77"/>
              </a:rPr>
              <a:t>introduction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18" y="1325491"/>
            <a:ext cx="7441659" cy="4618109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Aptos" panose="020B0004020202020204" pitchFamily="34" charset="0"/>
              </a:rPr>
              <a:t>A Medicine Inventory Management System is used to organize and manage medicines, prescriptions, diseases, doctors, and bills using a relational database system.</a:t>
            </a:r>
          </a:p>
          <a:p>
            <a:pPr marL="0" indent="0">
              <a:buNone/>
            </a:pPr>
            <a:r>
              <a:rPr lang="en-US" sz="1800" b="1" dirty="0">
                <a:latin typeface="Aptos" panose="020B0004020202020204" pitchFamily="34" charset="0"/>
              </a:rPr>
              <a:t>The system helps: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Store medicine information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Track prescriptions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Connect medicines with diseases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Generate bills automatically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Retrieve important data using SQL queries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7030-D097-080A-68DD-5830F8F3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9620-2F05-12C7-87A9-D2E3EA96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8" y="255643"/>
            <a:ext cx="8878824" cy="1069848"/>
          </a:xfrm>
        </p:spPr>
        <p:txBody>
          <a:bodyPr>
            <a:normAutofit/>
          </a:bodyPr>
          <a:lstStyle/>
          <a:p>
            <a:r>
              <a:rPr lang="en-US" dirty="0"/>
              <a:t>Project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192B4-ED6A-D951-7983-995F7EA3EE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36F1-D1BF-9437-01D9-5EE6D957B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18" y="1325491"/>
            <a:ext cx="7441659" cy="4618109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Aptos" panose="020B0004020202020204" pitchFamily="34" charset="0"/>
              </a:rPr>
              <a:t>The main objectives of the project are: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Design a relational database system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Manage doctors and prescriptions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Store medicine and disease information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Generate bills automatically using triggers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Create views for easier data access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Execute simple and complex SQL queries</a:t>
            </a:r>
          </a:p>
        </p:txBody>
      </p:sp>
    </p:spTree>
    <p:extLst>
      <p:ext uri="{BB962C8B-B14F-4D97-AF65-F5344CB8AC3E}">
        <p14:creationId xmlns:p14="http://schemas.microsoft.com/office/powerpoint/2010/main" val="244267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1EA0B-914A-A674-8E00-B5FEB03D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700C-50F5-8E86-B747-7CF5E6568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8" y="255643"/>
            <a:ext cx="8878824" cy="1069848"/>
          </a:xfrm>
        </p:spPr>
        <p:txBody>
          <a:bodyPr>
            <a:normAutofit/>
          </a:bodyPr>
          <a:lstStyle/>
          <a:p>
            <a:r>
              <a:rPr lang="en-US" dirty="0"/>
              <a:t>Entities and Attributes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163D3-FEAC-DA64-29DB-6F694F47EC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82FC8-5426-6FDB-BEBB-F74ED1F9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18" y="1249574"/>
            <a:ext cx="2295729" cy="4618109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Aptos" panose="020B0004020202020204" pitchFamily="34" charset="0"/>
              </a:rPr>
              <a:t>Doctor:</a:t>
            </a:r>
          </a:p>
          <a:p>
            <a:pPr marL="0" indent="0">
              <a:buNone/>
            </a:pPr>
            <a:r>
              <a:rPr lang="en-US" sz="1800" dirty="0" err="1">
                <a:latin typeface="Aptos" panose="020B0004020202020204" pitchFamily="34" charset="0"/>
              </a:rPr>
              <a:t>DoctorID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Aptos" panose="020B0004020202020204" pitchFamily="34" charset="0"/>
              </a:rPr>
              <a:t>DoctorName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Qualification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Specialization</a:t>
            </a:r>
          </a:p>
          <a:p>
            <a:pPr marL="0" indent="0">
              <a:buNone/>
            </a:pPr>
            <a:r>
              <a:rPr lang="en-US" sz="2800" b="1" dirty="0">
                <a:latin typeface="Aptos" panose="020B0004020202020204" pitchFamily="34" charset="0"/>
              </a:rPr>
              <a:t>Disease:</a:t>
            </a:r>
          </a:p>
          <a:p>
            <a:pPr marL="0" indent="0">
              <a:buNone/>
            </a:pPr>
            <a:r>
              <a:rPr lang="en-US" sz="1800" dirty="0" err="1">
                <a:latin typeface="Aptos" panose="020B0004020202020204" pitchFamily="34" charset="0"/>
              </a:rPr>
              <a:t>DiseaseID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Aptos" panose="020B0004020202020204" pitchFamily="34" charset="0"/>
              </a:rPr>
              <a:t>DiseaseName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Aptos" panose="020B0004020202020204" pitchFamily="34" charset="0"/>
              </a:rPr>
              <a:t>DiseaseType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ACB1D-DE71-B6F0-CDBB-E525AC6924A0}"/>
              </a:ext>
            </a:extLst>
          </p:cNvPr>
          <p:cNvSpPr txBox="1"/>
          <p:nvPr/>
        </p:nvSpPr>
        <p:spPr>
          <a:xfrm>
            <a:off x="3005847" y="1133356"/>
            <a:ext cx="2071748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Medicine: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MedicineID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MedicineName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ManufactureDate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ExpiryDate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Price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Dosage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Prescription: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PrescriptionID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DoctorID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IssueDate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PatientName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DC9B5-9761-8359-61A8-E706990AB0B4}"/>
              </a:ext>
            </a:extLst>
          </p:cNvPr>
          <p:cNvSpPr txBox="1"/>
          <p:nvPr/>
        </p:nvSpPr>
        <p:spPr>
          <a:xfrm>
            <a:off x="5725712" y="2361856"/>
            <a:ext cx="1607556" cy="2776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Aptos" panose="020B0004020202020204" pitchFamily="34" charset="0"/>
              </a:rPr>
              <a:t>Bill: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BillID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ptos" panose="020B0004020202020204" pitchFamily="34" charset="0"/>
              </a:rPr>
              <a:t>PrescriptionID</a:t>
            </a: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Tax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Discount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2292628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9DA7D8-68F5-9D2B-A92A-802129A168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28BF03-25B9-A929-14BC-9EBA16FB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571" y="411480"/>
            <a:ext cx="8878824" cy="1069848"/>
          </a:xfrm>
        </p:spPr>
        <p:txBody>
          <a:bodyPr/>
          <a:lstStyle/>
          <a:p>
            <a:r>
              <a:rPr lang="en-US" dirty="0"/>
              <a:t>ER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645632-5083-CDC5-5009-8F16C3B43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83" y="1481328"/>
            <a:ext cx="5102935" cy="2859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2CD41C-2E76-E659-6038-CF4807A8E68C}"/>
              </a:ext>
            </a:extLst>
          </p:cNvPr>
          <p:cNvSpPr txBox="1"/>
          <p:nvPr/>
        </p:nvSpPr>
        <p:spPr>
          <a:xfrm>
            <a:off x="772571" y="1481328"/>
            <a:ext cx="3399507" cy="281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The ER Diagram shows: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Entities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Relationships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Primary Keys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Foreign Keys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Cardinality Ratios</a:t>
            </a:r>
          </a:p>
        </p:txBody>
      </p:sp>
    </p:spTree>
    <p:extLst>
      <p:ext uri="{BB962C8B-B14F-4D97-AF65-F5344CB8AC3E}">
        <p14:creationId xmlns:p14="http://schemas.microsoft.com/office/powerpoint/2010/main" val="376601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D97DAF-6BD9-CBE2-7D02-0FFAD86D61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F7366D-8472-B87E-0A72-82C6D234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44" y="286188"/>
            <a:ext cx="8878824" cy="1069848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197FD3-ED04-B4D4-22F4-F69E25804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44" y="1356036"/>
            <a:ext cx="8695328" cy="4944765"/>
          </a:xfrm>
        </p:spPr>
        <p:txBody>
          <a:bodyPr/>
          <a:lstStyle/>
          <a:p>
            <a:r>
              <a:rPr lang="en-US" sz="1800" b="1" dirty="0">
                <a:latin typeface="Aptos" panose="020B0004020202020204" pitchFamily="34" charset="0"/>
              </a:rPr>
              <a:t>Doctor → Prescription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One doctor can issue many prescriptions.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Each prescription belongs to one doctor.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Prescription ↔ Medicine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Many-to-Many relationship.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Implemented using </a:t>
            </a:r>
            <a:r>
              <a:rPr lang="en-US" sz="1800" dirty="0" err="1">
                <a:latin typeface="Aptos" panose="020B0004020202020204" pitchFamily="34" charset="0"/>
              </a:rPr>
              <a:t>Prescription_Medicine</a:t>
            </a:r>
            <a:r>
              <a:rPr lang="en-US" sz="1800" dirty="0">
                <a:latin typeface="Aptos" panose="020B0004020202020204" pitchFamily="34" charset="0"/>
              </a:rPr>
              <a:t> table.</a:t>
            </a:r>
          </a:p>
          <a:p>
            <a:r>
              <a:rPr lang="en-US" sz="1800" b="1" dirty="0">
                <a:latin typeface="Aptos" panose="020B0004020202020204" pitchFamily="34" charset="0"/>
              </a:rPr>
              <a:t>Medicine ↔ Disease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Many-to-Many relationship.</a:t>
            </a: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</a:rPr>
              <a:t>Implemented using </a:t>
            </a:r>
            <a:r>
              <a:rPr lang="en-US" sz="1800" dirty="0" err="1">
                <a:latin typeface="Aptos" panose="020B0004020202020204" pitchFamily="34" charset="0"/>
              </a:rPr>
              <a:t>Medicine_Disease</a:t>
            </a:r>
            <a:r>
              <a:rPr lang="en-US" sz="1800" dirty="0">
                <a:latin typeface="Aptos" panose="020B0004020202020204" pitchFamily="34" charset="0"/>
              </a:rPr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209015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B6BA0-4486-3AC2-F5EF-0F7A16A66F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5B983C-8B33-9354-18B6-83862793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722376"/>
            <a:ext cx="8878824" cy="1069848"/>
          </a:xfrm>
        </p:spPr>
        <p:txBody>
          <a:bodyPr/>
          <a:lstStyle/>
          <a:p>
            <a:r>
              <a:rPr lang="en-US" dirty="0"/>
              <a:t>Relational Schema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DDEB7D-5636-6517-1229-E08302A0A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" y="1877438"/>
            <a:ext cx="6011112" cy="356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8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2B0753-82F6-EEB3-9CA4-D061AEFE2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E78CD9-B4DA-16CE-D7E3-BD281988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91" y="393192"/>
            <a:ext cx="7919093" cy="1069848"/>
          </a:xfrm>
        </p:spPr>
        <p:txBody>
          <a:bodyPr/>
          <a:lstStyle/>
          <a:p>
            <a:r>
              <a:rPr lang="en-US" dirty="0"/>
              <a:t>CREATE TABLE Statements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C1DBD0-72FD-EC4F-01D5-EFA39E7B8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056" y="1787525"/>
            <a:ext cx="5226961" cy="29109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0C0AC5-EE2E-8F5A-3B22-5084553B5429}"/>
              </a:ext>
            </a:extLst>
          </p:cNvPr>
          <p:cNvSpPr txBox="1"/>
          <p:nvPr/>
        </p:nvSpPr>
        <p:spPr>
          <a:xfrm>
            <a:off x="709891" y="1787525"/>
            <a:ext cx="50917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We created all database tables using SQL CREATE TABLE statements.</a:t>
            </a:r>
            <a:endParaRPr lang="ar-EG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The tables include:</a:t>
            </a: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Primary Keys</a:t>
            </a: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Foreign Keys</a:t>
            </a: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Constraints</a:t>
            </a: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Check Conditions</a:t>
            </a:r>
          </a:p>
        </p:txBody>
      </p:sp>
    </p:spTree>
    <p:extLst>
      <p:ext uri="{BB962C8B-B14F-4D97-AF65-F5344CB8AC3E}">
        <p14:creationId xmlns:p14="http://schemas.microsoft.com/office/powerpoint/2010/main" val="117517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E01FBA-8503-6432-80B2-4BB55920F5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03F2D6-ECF9-6937-C8D5-6A1A1DFD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796" y="448056"/>
            <a:ext cx="8878824" cy="1069848"/>
          </a:xfrm>
        </p:spPr>
        <p:txBody>
          <a:bodyPr/>
          <a:lstStyle/>
          <a:p>
            <a:r>
              <a:rPr lang="en-US" dirty="0"/>
              <a:t>INSERT Statements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5AD4E5-D90D-123B-06C0-B12D3370A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796" y="1554479"/>
            <a:ext cx="4018302" cy="344553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The database contains:</a:t>
            </a:r>
          </a:p>
          <a:p>
            <a:r>
              <a:rPr lang="en-US" sz="2000" dirty="0">
                <a:latin typeface="Aptos" panose="020B0004020202020204" pitchFamily="34" charset="0"/>
              </a:rPr>
              <a:t>10 Doctors</a:t>
            </a:r>
          </a:p>
          <a:p>
            <a:r>
              <a:rPr lang="en-US" sz="2000" dirty="0">
                <a:latin typeface="Aptos" panose="020B0004020202020204" pitchFamily="34" charset="0"/>
              </a:rPr>
              <a:t>10 Diseases</a:t>
            </a:r>
          </a:p>
          <a:p>
            <a:r>
              <a:rPr lang="en-US" sz="2000" dirty="0">
                <a:latin typeface="Aptos" panose="020B0004020202020204" pitchFamily="34" charset="0"/>
              </a:rPr>
              <a:t>10 Medicines</a:t>
            </a:r>
          </a:p>
          <a:p>
            <a:r>
              <a:rPr lang="en-US" sz="2000" dirty="0">
                <a:latin typeface="Aptos" panose="020B0004020202020204" pitchFamily="34" charset="0"/>
              </a:rPr>
              <a:t>10 Prescriptions</a:t>
            </a:r>
          </a:p>
          <a:p>
            <a:r>
              <a:rPr lang="en-US" sz="2000" dirty="0">
                <a:latin typeface="Aptos" panose="020B0004020202020204" pitchFamily="34" charset="0"/>
              </a:rPr>
              <a:t>Multiple Prescription Items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BF127E-94C1-5536-9F1B-003039EBE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93278"/>
            <a:ext cx="4994829" cy="307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87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A01BE-6086-2383-4079-844BB57AD2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25F00D-502F-9220-F2B2-7F14ADE3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13" y="292608"/>
            <a:ext cx="8878824" cy="1069848"/>
          </a:xfrm>
        </p:spPr>
        <p:txBody>
          <a:bodyPr/>
          <a:lstStyle/>
          <a:p>
            <a:r>
              <a:rPr lang="en-US" dirty="0"/>
              <a:t>Trigger Implementation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AA2834-F728-D027-6049-B959D9186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3" y="1561095"/>
            <a:ext cx="6630178" cy="397764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We implemented a trigger to automatically calculate the bill whenever medicines are added to a prescription.</a:t>
            </a: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The trigger calculates:</a:t>
            </a:r>
          </a:p>
          <a:p>
            <a:r>
              <a:rPr lang="en-US" sz="2000" dirty="0">
                <a:latin typeface="Aptos" panose="020B0004020202020204" pitchFamily="34" charset="0"/>
              </a:rPr>
              <a:t>Tax</a:t>
            </a:r>
          </a:p>
          <a:p>
            <a:r>
              <a:rPr lang="en-US" sz="2000" dirty="0">
                <a:latin typeface="Aptos" panose="020B0004020202020204" pitchFamily="34" charset="0"/>
              </a:rPr>
              <a:t>Discount</a:t>
            </a:r>
          </a:p>
          <a:p>
            <a:r>
              <a:rPr lang="en-US" sz="2000" dirty="0">
                <a:latin typeface="Aptos" panose="020B0004020202020204" pitchFamily="34" charset="0"/>
              </a:rPr>
              <a:t>Total Bill</a:t>
            </a:r>
          </a:p>
          <a:p>
            <a:r>
              <a:rPr lang="en-US" sz="2000" dirty="0">
                <a:latin typeface="Aptos" panose="020B0004020202020204" pitchFamily="34" charset="0"/>
              </a:rPr>
              <a:t>This improves automation and reduces manual calculations.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DDE55D-947A-D7CB-C4FB-E08424E9B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366" y="2092891"/>
            <a:ext cx="5091389" cy="30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63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00BA8C-7D5C-758E-69CA-E892FA6CF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972629-95A8-4633-2717-26551CB2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124" y="32004"/>
            <a:ext cx="8878824" cy="1069848"/>
          </a:xfrm>
        </p:spPr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686A23-7C3D-A069-856A-BCB412A0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214" y="1071211"/>
            <a:ext cx="5917594" cy="5375309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err="1"/>
              <a:t>vw_prescription_bill_summary</a:t>
            </a:r>
            <a:endParaRPr lang="en-US" sz="2000" b="1" dirty="0"/>
          </a:p>
          <a:p>
            <a:r>
              <a:rPr lang="en-US" sz="2000" dirty="0"/>
              <a:t>Displays:</a:t>
            </a:r>
          </a:p>
          <a:p>
            <a:r>
              <a:rPr lang="en-US" sz="2000" dirty="0"/>
              <a:t>Prescription information</a:t>
            </a:r>
          </a:p>
          <a:p>
            <a:r>
              <a:rPr lang="en-US" sz="2000" dirty="0"/>
              <a:t>Bill details</a:t>
            </a:r>
          </a:p>
          <a:p>
            <a:pPr marL="0" indent="0">
              <a:buNone/>
            </a:pPr>
            <a:r>
              <a:rPr lang="en-US" sz="2000" b="1" dirty="0" err="1"/>
              <a:t>vw_medicine_disease_summary</a:t>
            </a:r>
            <a:endParaRPr lang="en-US" sz="2000" b="1" dirty="0"/>
          </a:p>
          <a:p>
            <a:r>
              <a:rPr lang="en-US" sz="2000" dirty="0"/>
              <a:t>Displays:</a:t>
            </a:r>
          </a:p>
          <a:p>
            <a:r>
              <a:rPr lang="en-US" sz="2000" dirty="0"/>
              <a:t>Medicine names</a:t>
            </a:r>
          </a:p>
          <a:p>
            <a:r>
              <a:rPr lang="en-US" sz="2000" dirty="0"/>
              <a:t>Related diseases</a:t>
            </a:r>
          </a:p>
          <a:p>
            <a:pPr marL="0" indent="0">
              <a:buNone/>
            </a:pPr>
            <a:r>
              <a:rPr lang="en-US" sz="2000" dirty="0"/>
              <a:t>Views simplify complex queries and improve readability.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37A425-D18F-E380-03F9-6FB4C3AE59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39" y="1934798"/>
            <a:ext cx="5643988" cy="29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07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2853EC-D5F1-6017-B3E4-B92E3429EC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BF0332-E8C8-49B3-D1C5-667C9907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87452"/>
            <a:ext cx="8878824" cy="1069848"/>
          </a:xfrm>
        </p:spPr>
        <p:txBody>
          <a:bodyPr/>
          <a:lstStyle/>
          <a:p>
            <a:r>
              <a:rPr lang="en-US" dirty="0"/>
              <a:t>SQL Queries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619A12-8B2B-1ED6-3BED-AA516DB07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481328"/>
            <a:ext cx="6422136" cy="400507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Query 1</a:t>
            </a:r>
          </a:p>
          <a:p>
            <a:r>
              <a:rPr lang="en-US" sz="2000" dirty="0">
                <a:latin typeface="Aptos" panose="020B0004020202020204" pitchFamily="34" charset="0"/>
              </a:rPr>
              <a:t>List doctors specialized in heart disease.</a:t>
            </a: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Query 2</a:t>
            </a:r>
          </a:p>
          <a:p>
            <a:r>
              <a:rPr lang="en-US" sz="2000" dirty="0">
                <a:latin typeface="Aptos" panose="020B0004020202020204" pitchFamily="34" charset="0"/>
              </a:rPr>
              <a:t>List deficiency diseases.</a:t>
            </a: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Query 3</a:t>
            </a:r>
          </a:p>
          <a:p>
            <a:r>
              <a:rPr lang="en-US" sz="2000" dirty="0">
                <a:latin typeface="Aptos" panose="020B0004020202020204" pitchFamily="34" charset="0"/>
              </a:rPr>
              <a:t>List the most sold medicine in 2023.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5738E-01B3-C7ED-836A-A223550E0F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443" y="1657538"/>
            <a:ext cx="5032035" cy="307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53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43AEA-32D6-B4A5-213D-21A04473FF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950901-8D00-6F4E-FC86-0077CD9B4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69" y="292608"/>
            <a:ext cx="8878824" cy="1069848"/>
          </a:xfrm>
        </p:spPr>
        <p:txBody>
          <a:bodyPr/>
          <a:lstStyle/>
          <a:p>
            <a:r>
              <a:rPr lang="en-US" dirty="0"/>
              <a:t>Additional Queries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AED871-D484-E3A4-C7EF-38324870A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481328"/>
            <a:ext cx="6422136" cy="360847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Bills with Patient Names</a:t>
            </a:r>
          </a:p>
          <a:p>
            <a:r>
              <a:rPr lang="en-US" sz="2000" dirty="0">
                <a:latin typeface="Aptos" panose="020B0004020202020204" pitchFamily="34" charset="0"/>
              </a:rPr>
              <a:t>Displays all bills with related patients.</a:t>
            </a: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Total Sales per Medicine</a:t>
            </a:r>
          </a:p>
          <a:p>
            <a:r>
              <a:rPr lang="en-US" sz="2000" dirty="0">
                <a:latin typeface="Aptos" panose="020B0004020202020204" pitchFamily="34" charset="0"/>
              </a:rPr>
              <a:t>Calculates total medicine sales in 2023.</a:t>
            </a: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Medicine and Disease Information</a:t>
            </a:r>
          </a:p>
          <a:p>
            <a:r>
              <a:rPr lang="en-US" sz="2000" dirty="0">
                <a:latin typeface="Aptos" panose="020B0004020202020204" pitchFamily="34" charset="0"/>
              </a:rPr>
              <a:t>Displays medicines and their related diseases.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DB8A9-E232-362B-A147-21C608B305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683" y="1940202"/>
            <a:ext cx="4378419" cy="26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992A4-32F3-6593-8D3E-A339354A83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1CE0F6-E7CE-24FA-8841-2166C82C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06" y="0"/>
            <a:ext cx="8878824" cy="106984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95FC50-83B1-F270-1788-02FE8C251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06" y="1026791"/>
            <a:ext cx="11651112" cy="505607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In this project, we successfully designed and implemented a Medicine Inventory Management System using SQL and MySQL.</a:t>
            </a:r>
          </a:p>
          <a:p>
            <a:pPr marL="0" indent="0">
              <a:buNone/>
            </a:pPr>
            <a:r>
              <a:rPr lang="en-US" sz="2000" b="1" dirty="0">
                <a:latin typeface="Aptos" panose="020B0004020202020204" pitchFamily="34" charset="0"/>
              </a:rPr>
              <a:t>The project included:</a:t>
            </a:r>
          </a:p>
          <a:p>
            <a:r>
              <a:rPr lang="en-US" sz="2000" dirty="0">
                <a:latin typeface="Aptos" panose="020B0004020202020204" pitchFamily="34" charset="0"/>
              </a:rPr>
              <a:t>Relational database design</a:t>
            </a:r>
          </a:p>
          <a:p>
            <a:r>
              <a:rPr lang="en-US" sz="2000" dirty="0">
                <a:latin typeface="Aptos" panose="020B0004020202020204" pitchFamily="34" charset="0"/>
              </a:rPr>
              <a:t>ER Diagram</a:t>
            </a:r>
          </a:p>
          <a:p>
            <a:r>
              <a:rPr lang="en-US" sz="2000" dirty="0">
                <a:latin typeface="Aptos" panose="020B0004020202020204" pitchFamily="34" charset="0"/>
              </a:rPr>
              <a:t>Tables and relationships</a:t>
            </a:r>
          </a:p>
          <a:p>
            <a:r>
              <a:rPr lang="en-US" sz="2000" dirty="0">
                <a:latin typeface="Aptos" panose="020B0004020202020204" pitchFamily="34" charset="0"/>
              </a:rPr>
              <a:t>Triggers</a:t>
            </a:r>
          </a:p>
          <a:p>
            <a:r>
              <a:rPr lang="en-US" sz="2000" dirty="0">
                <a:latin typeface="Aptos" panose="020B0004020202020204" pitchFamily="34" charset="0"/>
              </a:rPr>
              <a:t>Views</a:t>
            </a:r>
          </a:p>
          <a:p>
            <a:r>
              <a:rPr lang="en-US" sz="2000" dirty="0">
                <a:latin typeface="Aptos" panose="020B0004020202020204" pitchFamily="34" charset="0"/>
              </a:rPr>
              <a:t>SQL Queries</a:t>
            </a: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The system helps organize medicine inventory and automate billing operations efficiently.</a:t>
            </a: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16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235806"/>
            <a:ext cx="7735824" cy="1069848"/>
          </a:xfrm>
        </p:spPr>
        <p:txBody>
          <a:bodyPr/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696a56-bd0e-4570-a987-29dcf22628b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2510C6CD73D14D946954A05748878D" ma:contentTypeVersion="10" ma:contentTypeDescription="Create a new document." ma:contentTypeScope="" ma:versionID="fcc6566f3871ff9bdabb09ebe1a9be76">
  <xsd:schema xmlns:xsd="http://www.w3.org/2001/XMLSchema" xmlns:xs="http://www.w3.org/2001/XMLSchema" xmlns:p="http://schemas.microsoft.com/office/2006/metadata/properties" xmlns:ns3="73696a56-bd0e-4570-a987-29dcf22628be" targetNamespace="http://schemas.microsoft.com/office/2006/metadata/properties" ma:root="true" ma:fieldsID="3ab37de195037714385fc865c6745bcc" ns3:_="">
    <xsd:import namespace="73696a56-bd0e-4570-a987-29dcf22628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96a56-bd0e-4570-a987-29dcf22628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purl.org/dc/terms/"/>
    <ds:schemaRef ds:uri="http://schemas.openxmlformats.org/package/2006/metadata/core-properties"/>
    <ds:schemaRef ds:uri="73696a56-bd0e-4570-a987-29dcf22628be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F6C6CD-0322-4AD2-8AC7-53A47A0B93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696a56-bd0e-4570-a987-29dcf22628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103</TotalTime>
  <Words>446</Words>
  <Application>Microsoft Office PowerPoint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Segoe UI Light</vt:lpstr>
      <vt:lpstr>Tw Cen MT</vt:lpstr>
      <vt:lpstr>Office Theme</vt:lpstr>
      <vt:lpstr>Medicine Inventory</vt:lpstr>
      <vt:lpstr>introduction</vt:lpstr>
      <vt:lpstr>Project Objectives</vt:lpstr>
      <vt:lpstr>Entities and Attributes</vt:lpstr>
      <vt:lpstr>ER Diagram</vt:lpstr>
      <vt:lpstr>Relationships</vt:lpstr>
      <vt:lpstr>Relational Schema</vt:lpstr>
      <vt:lpstr>CREATE TABLE Statements</vt:lpstr>
      <vt:lpstr>INSERT Statements</vt:lpstr>
      <vt:lpstr>Trigger Implementation</vt:lpstr>
      <vt:lpstr>Views</vt:lpstr>
      <vt:lpstr>SQL Queries</vt:lpstr>
      <vt:lpstr>Additional Queries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Malak Reda abdelghani</dc:creator>
  <cp:lastModifiedBy>Malak Reda abdelghani</cp:lastModifiedBy>
  <cp:revision>1</cp:revision>
  <dcterms:created xsi:type="dcterms:W3CDTF">2026-05-29T03:58:22Z</dcterms:created>
  <dcterms:modified xsi:type="dcterms:W3CDTF">2026-05-29T05:41:53Z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0x0101001A2510C6CD73D14D946954A05748878D</vt:lpwstr>
  </property>
</Properties>
</file>